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594360"/>
            <a:ext cx="822960" cy="822960"/>
          </a:xfrm>
          <a:prstGeom prst="ellipse">
            <a:avLst/>
          </a:prstGeom>
          <a:ln w="15240">
            <a:solidFill>
              <a:srgbClr val="4C6EF5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4180" y="251460"/>
            <a:ext cx="1508760" cy="1508760"/>
          </a:xfrm>
          <a:prstGeom prst="ellipse">
            <a:avLst/>
          </a:prstGeom>
          <a:ln w="15240">
            <a:solidFill>
              <a:srgbClr val="4C6EF5">
                <a:alpha val="61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-91440"/>
            <a:ext cx="2194560" cy="2194560"/>
          </a:xfrm>
          <a:prstGeom prst="ellipse">
            <a:avLst/>
          </a:prstGeom>
          <a:ln w="15240">
            <a:solidFill>
              <a:srgbClr val="4C6EF5">
                <a:alpha val="4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98380" y="-434340"/>
            <a:ext cx="2880360" cy="2880360"/>
          </a:xfrm>
          <a:prstGeom prst="ellipse">
            <a:avLst/>
          </a:prstGeom>
          <a:ln w="15240">
            <a:solidFill>
              <a:srgbClr val="4C6EF5">
                <a:alpha val="33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035040"/>
            <a:ext cx="548640" cy="548640"/>
          </a:xfrm>
          <a:prstGeom prst="ellipse">
            <a:avLst/>
          </a:prstGeom>
          <a:ln w="15240">
            <a:solidFill>
              <a:srgbClr val="3AAFA9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" y="5692140"/>
            <a:ext cx="1234440" cy="1234440"/>
          </a:xfrm>
          <a:prstGeom prst="ellipse">
            <a:avLst/>
          </a:prstGeom>
          <a:ln w="15240">
            <a:solidFill>
              <a:srgbClr val="3AAFA9">
                <a:alpha val="61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320040" y="5349240"/>
            <a:ext cx="1920240" cy="1920240"/>
          </a:xfrm>
          <a:prstGeom prst="ellipse">
            <a:avLst/>
          </a:prstGeom>
          <a:ln w="15240">
            <a:solidFill>
              <a:srgbClr val="3AAFA9">
                <a:alpha val="47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spc="400" kern="0" dirty="0">
                <a:solidFill>
                  <a:srgbClr val="8FA8C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Wi-Fi CSI 人员存在检测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首批真实数据采集与分析报告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41148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4C6E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类场景 · 15 次会话 · 36,117 个 CSI 数据包 · 零丢包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ESPectre V8 真实 CSI  |  教室 6B514  |  2026-10-20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核心结论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次会话的数据质量与特征区分度均达到训练标准，同时暴露出一个覆盖盲区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C6E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17320" y="160020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75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信号对人的响应清晰可辨</a:t>
            </a:r>
            <a:endParaRPr lang="en-US" sz="17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走动使子载波动态达到空场基线的 3~4 倍（2.4~3.2 vs 0.82）；起身、挥手等动作均显著越线，有人/无人的一级判别在幅度层面即已可分。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1417320" y="2990088"/>
            <a:ext cx="10195560" cy="0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27832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17320" y="3227832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75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不同干扰源有可分辨的指纹</a:t>
            </a:r>
            <a:endParaRPr lang="en-US" sz="17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风扇无人仅使动态升至 1.0 左右，且在频谱上留下稳定的 6.6 Hz 周期峰，与人体动作频段（2~4 Hz）完全分离——风扇误报可用滤波排除。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1417320" y="4617720"/>
            <a:ext cx="10195560" cy="0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855464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417320" y="4855464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75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感知范围存在边界</a:t>
            </a:r>
            <a:endParaRPr lang="en-US" sz="17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门口走动（远端）动态仅 0.82，与空场基线持平；久坐玩电脑单次会话可低至 0.70。设备朝向与链路覆盖是下一阶段必须补测的变量。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采集概况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数据来自 espectre.dev 官方工具直连设备，每包含 64 子载波 I/Q、RSSI、SNR 与原始 V8 帧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760720" cy="914400"/>
        </p:xfrm>
        <a:graphic>
          <a:graphicData uri="http://schemas.openxmlformats.org/drawingml/2006/table">
            <a:tbl>
              <a:tblPr/>
              <a:tblGrid>
                <a:gridCol w="1440180"/>
                <a:gridCol w="1440180"/>
                <a:gridCol w="1440180"/>
                <a:gridCol w="14401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7A869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场景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7A869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会话数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7A869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总时长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7A869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动态强度均值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空场无人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49.0 s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0.82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风扇无人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72.3 s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1.02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玩电脑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77.7 s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1.15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设备旁挥手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48.1 s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C6E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2.24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起身出教室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18.9 s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C6E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2.48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门口走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23.9 s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0.82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走动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72.9 s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C6E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2.76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645920"/>
            <a:ext cx="4937760" cy="1325880"/>
          </a:xfrm>
          <a:prstGeom prst="roundRect">
            <a:avLst>
              <a:gd name="adj" fmla="val 5517"/>
            </a:avLst>
          </a:prstGeom>
          <a:solidFill>
            <a:srgbClr val="EEF2FB"/>
          </a:solidFill>
          <a:ln/>
        </p:spPr>
      </p:sp>
      <p:sp>
        <p:nvSpPr>
          <p:cNvPr id="6" name="Text 3"/>
          <p:cNvSpPr/>
          <p:nvPr/>
        </p:nvSpPr>
        <p:spPr>
          <a:xfrm>
            <a:off x="7040880" y="1755648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4C6E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pps 恒定采样率  ·  15 次会话无一波动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675120" y="3182112"/>
            <a:ext cx="4937760" cy="1325880"/>
          </a:xfrm>
          <a:prstGeom prst="roundRect">
            <a:avLst>
              <a:gd name="adj" fmla="val 5517"/>
            </a:avLst>
          </a:prstGeom>
          <a:solidFill>
            <a:srgbClr val="EEF2FB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0" y="32918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4C6E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丢包 / 序号缺口  ·  36,117 包全部连续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6675120" y="4718304"/>
            <a:ext cx="4937760" cy="1325880"/>
          </a:xfrm>
          <a:prstGeom prst="roundRect">
            <a:avLst>
              <a:gd name="adj" fmla="val 5517"/>
            </a:avLst>
          </a:prstGeom>
          <a:solidFill>
            <a:srgbClr val="EEF2FB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0" y="4828032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4C6E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-47.9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dBm 平均 RSSI  ·  链路稳定，SNR 余量充足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548640" y="62636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注：前 4 个子载波为协议置零空载波，全部分析已剔除；动态强度 = 子载波幅度相对滑动基线的 RMS 偏差。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6E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 </a:t>
            </a:r>
            <a:pPr indent="0" marL="0">
              <a:buNone/>
            </a:pPr>
            <a:r>
              <a:rPr lang="en-US" sz="25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原始采集记录 · 无人场景与静态场景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espectre.dev 实时界面截图，每张对应一次会话 · 标注该会话实测动态强度与主频</a:t>
            </a:r>
            <a:endParaRPr lang="en-US" sz="1250" dirty="0"/>
          </a:p>
        </p:txBody>
      </p:sp>
      <p:pic>
        <p:nvPicPr>
          <p:cNvPr id="4" name="Image 0" descr="/home/z/my-project/csi_analysis/figs/shots/空场无人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1481328"/>
            <a:ext cx="2615184" cy="14369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2356" y="2973106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空场无人 ②  </a:t>
            </a:r>
            <a:pPr indent="0" marL="0">
              <a:buNone/>
            </a:pPr>
            <a:r>
              <a:rPr lang="en-US" sz="1100" b="1" dirty="0">
                <a:solidFill>
                  <a:srgbClr val="9AA5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基线 0.83</a:t>
            </a:r>
            <a:endParaRPr lang="en-US" sz="1200" dirty="0"/>
          </a:p>
        </p:txBody>
      </p:sp>
      <p:pic>
        <p:nvPicPr>
          <p:cNvPr id="6" name="Image 1" descr="/home/z/my-project/csi_analysis/figs/shots/风扇无人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8708" y="1481328"/>
            <a:ext cx="2615184" cy="14369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78708" y="2973106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风扇无人 ①  </a:t>
            </a:r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1.04 · 6.75 Hz</a:t>
            </a:r>
            <a:endParaRPr lang="en-US" sz="1200" dirty="0"/>
          </a:p>
        </p:txBody>
      </p:sp>
      <p:pic>
        <p:nvPicPr>
          <p:cNvPr id="8" name="Image 2" descr="/home/z/my-project/csi_analysis/figs/shots/风扇无人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060" y="1481328"/>
            <a:ext cx="2615184" cy="143691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195060" y="2973106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风扇无人 ②  </a:t>
            </a:r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0.94 · 6.57 Hz</a:t>
            </a:r>
            <a:endParaRPr lang="en-US" sz="1200" dirty="0"/>
          </a:p>
        </p:txBody>
      </p:sp>
      <p:pic>
        <p:nvPicPr>
          <p:cNvPr id="10" name="Image 3" descr="/home/z/my-project/csi_analysis/figs/shots/风扇无人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1412" y="1481328"/>
            <a:ext cx="2615184" cy="143691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011412" y="2973106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风扇无人 ③  </a:t>
            </a:r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1.08 · 6.45 Hz</a:t>
            </a:r>
            <a:endParaRPr lang="en-US" sz="1200" dirty="0"/>
          </a:p>
        </p:txBody>
      </p:sp>
      <p:pic>
        <p:nvPicPr>
          <p:cNvPr id="12" name="Image 4" descr="/home/z/my-project/csi_analysis/figs/shots/玩电脑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0532" y="3694176"/>
            <a:ext cx="2615184" cy="143691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970532" y="5185954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玩电脑 ①  </a:t>
            </a:r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0.70 · 低于基线</a:t>
            </a:r>
            <a:endParaRPr lang="en-US" sz="1200" dirty="0"/>
          </a:p>
        </p:txBody>
      </p:sp>
      <p:pic>
        <p:nvPicPr>
          <p:cNvPr id="14" name="Image 5" descr="/home/z/my-project/csi_analysis/figs/shots/玩电脑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884" y="3694176"/>
            <a:ext cx="2615184" cy="143691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4786884" y="5185954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玩电脑 ②  </a:t>
            </a:r>
            <a:pPr indent="0" marL="0">
              <a:buNone/>
            </a:pPr>
            <a:r>
              <a:rPr lang="en-US" sz="1100" b="1" dirty="0">
                <a:solidFill>
                  <a:srgbClr val="35C9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1.66</a:t>
            </a:r>
            <a:endParaRPr lang="en-US" sz="1200" dirty="0"/>
          </a:p>
        </p:txBody>
      </p:sp>
      <p:pic>
        <p:nvPicPr>
          <p:cNvPr id="16" name="Image 6" descr="/home/z/my-project/csi_analysis/figs/shots/玩电脑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3236" y="3694176"/>
            <a:ext cx="2615184" cy="1436914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7603236" y="5185954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玩电脑 ③  </a:t>
            </a:r>
            <a:pPr indent="0" marL="0">
              <a:buNone/>
            </a:pPr>
            <a:r>
              <a:rPr lang="en-US" sz="1100" b="1" dirty="0">
                <a:solidFill>
                  <a:srgbClr val="35C9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1.08</a:t>
            </a:r>
            <a:endParaRPr lang="en-US" sz="1200" dirty="0"/>
          </a:p>
        </p:txBody>
      </p:sp>
      <p:sp>
        <p:nvSpPr>
          <p:cNvPr id="18" name="Text 9"/>
          <p:cNvSpPr/>
          <p:nvPr/>
        </p:nvSpPr>
        <p:spPr>
          <a:xfrm>
            <a:off x="548640" y="635508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空场① 未留存截图 · 动态强度 = 子载波偏差 RMS 均值，空场基线 0.82 · 金色风扇主频稳定在 6.5 Hz 附近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6E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 </a:t>
            </a:r>
            <a:pPr indent="0" marL="0">
              <a:buNone/>
            </a:pPr>
            <a:r>
              <a:rPr lang="en-US" sz="25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原始采集记录 · 人员活动场景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走动 / 挥手 / 起身 / 门口走 · 曲线波动幅度与活动位置清晰对应</a:t>
            </a:r>
            <a:endParaRPr lang="en-US" sz="1250" dirty="0"/>
          </a:p>
        </p:txBody>
      </p:sp>
      <p:pic>
        <p:nvPicPr>
          <p:cNvPr id="4" name="Image 0" descr="/home/z/my-project/csi_analysis/figs/shots/走动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1481328"/>
            <a:ext cx="2615184" cy="14369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2356" y="2973106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走动 ①  </a:t>
            </a:r>
            <a:pPr indent="0" marL="0">
              <a:buNone/>
            </a:pPr>
            <a:r>
              <a:rPr lang="en-US" sz="1100" b="1" dirty="0">
                <a:solidFill>
                  <a:srgbClr val="4C6E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2.39</a:t>
            </a:r>
            <a:endParaRPr lang="en-US" sz="1200" dirty="0"/>
          </a:p>
        </p:txBody>
      </p:sp>
      <p:pic>
        <p:nvPicPr>
          <p:cNvPr id="6" name="Image 1" descr="/home/z/my-project/csi_analysis/figs/shots/走动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8708" y="1481328"/>
            <a:ext cx="2615184" cy="14369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78708" y="2973106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走动 ②  </a:t>
            </a:r>
            <a:pPr indent="0" marL="0">
              <a:buNone/>
            </a:pPr>
            <a:r>
              <a:rPr lang="en-US" sz="1100" b="1" dirty="0">
                <a:solidFill>
                  <a:srgbClr val="4C6E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3.18 · 全场最强</a:t>
            </a:r>
            <a:endParaRPr lang="en-US" sz="1200" dirty="0"/>
          </a:p>
        </p:txBody>
      </p:sp>
      <p:pic>
        <p:nvPicPr>
          <p:cNvPr id="8" name="Image 2" descr="/home/z/my-project/csi_analysis/figs/shots/走动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060" y="1481328"/>
            <a:ext cx="2615184" cy="143691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195060" y="2973106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走动 ③  </a:t>
            </a:r>
            <a:pPr indent="0" marL="0">
              <a:buNone/>
            </a:pPr>
            <a:r>
              <a:rPr lang="en-US" sz="1100" b="1" dirty="0">
                <a:solidFill>
                  <a:srgbClr val="4C6E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2.70</a:t>
            </a:r>
            <a:endParaRPr lang="en-US" sz="1200" dirty="0"/>
          </a:p>
        </p:txBody>
      </p:sp>
      <p:pic>
        <p:nvPicPr>
          <p:cNvPr id="10" name="Image 3" descr="/home/z/my-project/csi_analysis/figs/shots/设备旁挥手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1412" y="1481328"/>
            <a:ext cx="2615184" cy="143691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011412" y="2973106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设备旁挥手 ①  </a:t>
            </a:r>
            <a:pPr indent="0" marL="0">
              <a:buNone/>
            </a:pPr>
            <a:r>
              <a:rPr lang="en-US" sz="1100" b="1" dirty="0">
                <a:solidFill>
                  <a:srgbClr val="35C9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1.70</a:t>
            </a:r>
            <a:endParaRPr lang="en-US" sz="1200" dirty="0"/>
          </a:p>
        </p:txBody>
      </p:sp>
      <p:pic>
        <p:nvPicPr>
          <p:cNvPr id="12" name="Image 4" descr="/home/z/my-project/csi_analysis/figs/shots/设备旁挥手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0532" y="3694176"/>
            <a:ext cx="2615184" cy="143691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970532" y="5185954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设备旁挥手 ②  </a:t>
            </a:r>
            <a:pPr indent="0" marL="0">
              <a:buNone/>
            </a:pPr>
            <a:r>
              <a:rPr lang="en-US" sz="1100" b="1" dirty="0">
                <a:solidFill>
                  <a:srgbClr val="35C9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2.79</a:t>
            </a:r>
            <a:endParaRPr lang="en-US" sz="1200" dirty="0"/>
          </a:p>
        </p:txBody>
      </p:sp>
      <p:pic>
        <p:nvPicPr>
          <p:cNvPr id="14" name="Image 5" descr="/home/z/my-project/csi_analysis/figs/shots/起身出教室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884" y="3694176"/>
            <a:ext cx="2615184" cy="143691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4786884" y="5185954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起身出教室  </a:t>
            </a:r>
            <a:pPr indent="0" marL="0">
              <a:buNone/>
            </a:pPr>
            <a:r>
              <a:rPr lang="en-US" sz="1100" b="1" dirty="0">
                <a:solidFill>
                  <a:srgbClr val="35C9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2.48</a:t>
            </a:r>
            <a:endParaRPr lang="en-US" sz="1200" dirty="0"/>
          </a:p>
        </p:txBody>
      </p:sp>
      <p:pic>
        <p:nvPicPr>
          <p:cNvPr id="16" name="Image 6" descr="/home/z/my-project/csi_analysis/figs/shots/门口走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3236" y="3694176"/>
            <a:ext cx="2615184" cy="1436914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7603236" y="5185954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门口走  </a:t>
            </a:r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0.82 · 与基线持平</a:t>
            </a:r>
            <a:endParaRPr lang="en-US" sz="1200" dirty="0"/>
          </a:p>
        </p:txBody>
      </p:sp>
      <p:sp>
        <p:nvSpPr>
          <p:cNvPr id="18" name="Text 9"/>
          <p:cNvSpPr/>
          <p:nvPr/>
        </p:nvSpPr>
        <p:spPr>
          <a:xfrm>
            <a:off x="548640" y="635508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蓝色走动场景动态强度 2.4~3.2（基线 3~4 倍）· 红色门口走在房间远端，链路未穿越人体，与空场持平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6E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 </a:t>
            </a:r>
            <a:pPr indent="0" marL="0">
              <a:buNone/>
            </a:pPr>
            <a:r>
              <a:rPr lang="en-US" sz="25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动态强度：人体活动显著抬升信号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每根柱为一次会话；虚线为两次空场会话的基线均值</a:t>
            </a:r>
            <a:endParaRPr lang="en-US" sz="1250" dirty="0"/>
          </a:p>
        </p:txBody>
      </p:sp>
      <p:pic>
        <p:nvPicPr>
          <p:cNvPr id="4" name="Image 0" descr="/home/z/my-project/csi_analysis/figs/fig1_mo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8001000" cy="41115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823960" y="1481328"/>
            <a:ext cx="28346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走动是最强激励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三次会话稳定在 2.39~3.18，为基线的 3~4 倍，会话间一致性良好。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823960" y="2962656"/>
            <a:ext cx="28346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近场小动作可辨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设备旁挥手 1.70~2.79、起身 2.48，均明显越过基线。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823960" y="4443984"/>
            <a:ext cx="28346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玩电脑方差大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0.70~1.66：久坐身体遮挡反而压低波动，单次低于基线。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823960" y="1371600"/>
            <a:ext cx="0" cy="4846320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数据：本次 15 次会话 · 指标为有效子载波（4~63）偏差 RMS 的均值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6E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 </a:t>
            </a:r>
            <a:pPr indent="0" marL="0">
              <a:buNone/>
            </a:pPr>
            <a:r>
              <a:rPr lang="en-US" sz="25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时序形态：四种场景肉眼可分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横轴时间 · 纵轴子载波 · 颜色为幅度偏差（红正蓝负）</a:t>
            </a:r>
            <a:endParaRPr lang="en-US" sz="1250" dirty="0"/>
          </a:p>
        </p:txBody>
      </p:sp>
      <p:pic>
        <p:nvPicPr>
          <p:cNvPr id="4" name="Image 0" descr="/home/z/my-project/csi_analysis/figs/fig2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8001000" cy="45126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823960" y="1481328"/>
            <a:ext cx="283464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空场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均匀细噪，无结构。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823960" y="2688336"/>
            <a:ext cx="283464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风扇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少数子载波出现周期性细条。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823960" y="3895344"/>
            <a:ext cx="283464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玩电脑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间歇性局部扰动。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823960" y="5102352"/>
            <a:ext cx="283464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走动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连片强波动，跨子载波相关。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823960" y="1371600"/>
            <a:ext cx="0" cy="4846320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展示的 4 个会话为各类包数最多的代表；中央白色行为协议直流空载波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6E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 </a:t>
            </a:r>
            <a:pPr indent="0" marL="0">
              <a:buNone/>
            </a:pPr>
            <a:r>
              <a:rPr lang="en-US" sz="25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子载波敏感性分布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纵轴为幅度方差（对时间），各场景按会话取均值</a:t>
            </a:r>
            <a:endParaRPr lang="en-US" sz="1250" dirty="0"/>
          </a:p>
        </p:txBody>
      </p:sp>
      <p:pic>
        <p:nvPicPr>
          <p:cNvPr id="4" name="Image 0" descr="/home/z/my-project/csi_analysis/figs/fig3_subcarr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8001000" cy="3968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823960" y="1481328"/>
            <a:ext cx="28346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中段是黄金区间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走动时 12~16 号子载波方差达峰值，约为空场的 8 倍。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823960" y="2962656"/>
            <a:ext cx="28346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区分度全带存在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走动曲线全程高于其他场景，但低号段（4~10）与风扇有交叠。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823960" y="4443984"/>
            <a:ext cx="28346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对训练的意义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特征可先用 top 方差子载波降维；30/59 号后的塌陷区应剔除。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823960" y="1371600"/>
            <a:ext cx="0" cy="4846320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空场/风扇/玩电脑/走动 4 类均值曲线，走动加粗突出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6E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 </a:t>
            </a:r>
            <a:pPr indent="0" marL="0">
              <a:buNone/>
            </a:pPr>
            <a:r>
              <a:rPr lang="en-US" sz="25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频谱指纹：风扇可被滤波排除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对各类最敏感的 5 个子载波取平均功率谱（1~48 Hz，已去低频漂移）</a:t>
            </a:r>
            <a:endParaRPr lang="en-US" sz="1250" dirty="0"/>
          </a:p>
        </p:txBody>
      </p:sp>
      <p:pic>
        <p:nvPicPr>
          <p:cNvPr id="4" name="Image 0" descr="/home/z/my-project/csi_analysis/figs/fig4_spectr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8001000" cy="3968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823960" y="1481328"/>
            <a:ext cx="28346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6.6 Hz 稳定复现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风扇三次采集主频分别为 6.75 / 6.57 / 6.45 Hz，高度一致。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823960" y="2962656"/>
            <a:ext cx="28346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与人体频段分离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人体动作能量集中在 2~4 Hz，频域上与风扇不重叠。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823960" y="4443984"/>
            <a:ext cx="28346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落地做法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检测前对 5.5~8 Hz 窄带陷波，可低成本消除风扇误报。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823960" y="1371600"/>
            <a:ext cx="0" cy="4846320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走动谱在低频段能量分散且强；空场全带平坦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次会话明细数据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动态强度 = 有效子载波（4~63）偏差 RMS 均值 · 主频 = 去漂移后 2~48 Hz 最强谱峰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234440"/>
                <a:gridCol w="1234440"/>
                <a:gridCol w="1417320"/>
                <a:gridCol w="1691640"/>
                <a:gridCol w="1417320"/>
                <a:gridCol w="1261872"/>
              </a:tblGrid>
              <a:tr h="2880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会话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包数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时长/s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速率/pps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动态强度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主频/Hz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RSSI/dBm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空场无人（1）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2169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21.7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100.1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0.82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5.95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-48.0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空场无人（2）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2728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27.3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100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0.83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43.62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-48.0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9A22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风扇无人（1）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2280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23.2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98.3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9A22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1.04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9A22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6.75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-49.4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9A22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风扇无人（2）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2482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25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99.3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9A22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0.94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9A22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6.57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-48.9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9A22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风扇无人（3）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2387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24.1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99.2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9A22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1.08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9A22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6.45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-48.3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4C6E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走动（1）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2690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26.9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100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C6E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2.39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C6E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2.94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-48.4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4C6E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走动（2）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1757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17.6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100.1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C6E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3.18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C6E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3.76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-48.5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4C6E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走动（3）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2841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28.4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100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C6E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2.70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4C6EF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3.34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-47.2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玩电脑（1）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2431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24.3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100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0.70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3.09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-47.0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玩电脑（2）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2539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25.4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100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1.66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3.07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-46.3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玩电脑（3）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2797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28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100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1.08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3.25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-47.2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设备旁挥手（1）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2561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25.6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100.1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1.70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5.51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-47.9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设备旁挥手（2）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2226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22.5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98.8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2.79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2.38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-47.4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起身出教室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1890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18.9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100.2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2.48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2.91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-47.2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门口走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2339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23.9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97.8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0.82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3.76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-50.0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35508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红色：异常会话（玩电脑① 低于基线、门口走 与基线持平）· 金色：风扇场景（主频稳定在 6.5 Hz 附近）· 蓝色：走动场景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两个需要正视的问题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它们不否定方案可行性，但直接决定下一批采集怎么设计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480560"/>
          </a:xfrm>
          <a:prstGeom prst="roundRect">
            <a:avLst>
              <a:gd name="adj" fmla="val 1837"/>
            </a:avLst>
          </a:prstGeom>
          <a:solidFill>
            <a:srgbClr val="EEF2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4800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感知盲区：门口走动完全隐身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门口走会话动态强度 0.82，与空场基线完全重合——人在房间远端活动时，链路（设备↔路由器）没有穿过其身体。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3794760"/>
            <a:ext cx="4800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人体对信号的调制依赖「穿越链路」，覆盖是几何问题而非算法问题</a:t>
            </a:r>
            <a:endParaRPr lang="en-US" sz="1200" dirty="0"/>
          </a:p>
          <a:p>
            <a:pPr marL="152400" indent="-1524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对策：调整设备朝向 / 增加第二链路；下批采集按距链路 0/2/4/6 m 分档补测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440680" cy="4480560"/>
          </a:xfrm>
          <a:prstGeom prst="roundRect">
            <a:avLst>
              <a:gd name="adj" fmla="val 1837"/>
            </a:avLst>
          </a:prstGeom>
          <a:solidFill>
            <a:srgbClr val="EEF2FB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874520"/>
            <a:ext cx="4800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久坐场景与空场难以区分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玩电脑三次会话强度 0.70 / 1.66 / 1.08，方差大且最低值低于基线——存在检测在「人在但静止」时可能漏报。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37960" y="3794760"/>
            <a:ext cx="4800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久坐时唯一信号是呼吸/微动，幅度层面可能确实不足</a:t>
            </a:r>
            <a:endParaRPr lang="en-US" sz="1200" dirty="0"/>
          </a:p>
          <a:p>
            <a:pPr marL="152400" indent="-1524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对策：降低判定阈值会牺牲鲁棒性，建议引入微动特征（呼吸频段 0.2~0.5 Hz）单独验证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5669280"/>
            <a:ext cx="731520" cy="731520"/>
          </a:xfrm>
          <a:prstGeom prst="ellipse">
            <a:avLst/>
          </a:prstGeom>
          <a:ln w="15240">
            <a:solidFill>
              <a:srgbClr val="4C6EF5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12780" y="5326380"/>
            <a:ext cx="1417320" cy="1417320"/>
          </a:xfrm>
          <a:prstGeom prst="ellipse">
            <a:avLst/>
          </a:prstGeom>
          <a:ln w="15240">
            <a:solidFill>
              <a:srgbClr val="4C6EF5">
                <a:alpha val="61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69880" y="4983480"/>
            <a:ext cx="2103120" cy="2103120"/>
          </a:xfrm>
          <a:prstGeom prst="ellipse">
            <a:avLst/>
          </a:prstGeom>
          <a:ln w="15240">
            <a:solidFill>
              <a:srgbClr val="4C6EF5">
                <a:alpha val="47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结论与下一步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4C6E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数据合格，方案可行。</a:t>
            </a:r>
            <a:endParaRPr lang="en-US" sz="2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8C6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首批数据已验证：有人/无人判别、风扇干扰排除、敏感子载波选择三个环节都有明确的数据支撑。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16263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33756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补采盲区数据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A8C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设备朝向调整后，按距链路 0/2/4/6 m 分档走动采集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3364992" y="310896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16263D"/>
          </a:solidFill>
          <a:ln/>
        </p:spPr>
      </p:sp>
      <p:sp>
        <p:nvSpPr>
          <p:cNvPr id="10" name="Text 8"/>
          <p:cNvSpPr/>
          <p:nvPr/>
        </p:nvSpPr>
        <p:spPr>
          <a:xfrm>
            <a:off x="3593592" y="333756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跑通训练管线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A8C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会话导入 csi_project 控制台，训练第一版检测模型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181344" y="310896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16263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9944" y="333756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验证风扇滤波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A8C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加入 6.6 Hz 陷波，对比开启前后误报率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997696" y="310896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16263D"/>
          </a:solidFill>
          <a:ln/>
        </p:spPr>
      </p:sp>
      <p:sp>
        <p:nvSpPr>
          <p:cNvPr id="14" name="Text 12"/>
          <p:cNvSpPr/>
          <p:nvPr/>
        </p:nvSpPr>
        <p:spPr>
          <a:xfrm>
            <a:off x="9226296" y="333756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 扩场景复测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A8C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空场/走动各扩到 5 次以上，覆盖不同时段与家具状态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48640" y="6126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数据来源：本次 15 次会话采集 · 分析脚本与中间数据已归档至 csi_analysis 目录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2026-10-21T05:52:31Z</dcterms:created>
  <dcterms:modified xsi:type="dcterms:W3CDTF">2026-10-21T05:52:31Z</dcterms:modified>
</cp:coreProperties>
</file>